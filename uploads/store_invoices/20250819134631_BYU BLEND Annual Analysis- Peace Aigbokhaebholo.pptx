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8" r:id="rId3"/>
    <p:sldId id="259" r:id="rId4"/>
    <p:sldId id="266" r:id="rId5"/>
    <p:sldId id="262" r:id="rId6"/>
    <p:sldId id="267" r:id="rId7"/>
    <p:sldId id="260" r:id="rId8"/>
    <p:sldId id="268" r:id="rId9"/>
    <p:sldId id="257" r:id="rId10"/>
    <p:sldId id="261" r:id="rId11"/>
    <p:sldId id="265" r:id="rId12"/>
    <p:sldId id="263" r:id="rId13"/>
    <p:sldId id="26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08825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002531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48442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6/14/2025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948004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6/14/2025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629526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655114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33031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449907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6/14/2025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439894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6/14/2025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490001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24714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687468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57716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866793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0934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707849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6/14/2025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280540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21" Type="http://schemas.openxmlformats.org/officeDocument/2006/relationships/image" Target="../media/image4.png"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image" Target="../media/image3.png"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image" Target="../media/image5.png"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6/14/2025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3701997349"/>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EB1E-A6DD-48E4-A634-7872E291D285}"/>
              </a:ext>
            </a:extLst>
          </p:cNvPr>
          <p:cNvSpPr>
            <a:spLocks noGrp="1"/>
          </p:cNvSpPr>
          <p:nvPr>
            <p:ph type="ctrTitle" idx="4294967295"/>
          </p:nvPr>
        </p:nvSpPr>
        <p:spPr>
          <a:xfrm>
            <a:off x="452437" y="357187"/>
            <a:ext cx="10893425" cy="6143625"/>
          </a:xfrm>
        </p:spPr>
        <p:txBody>
          <a:bodyPr anchor="t">
            <a:normAutofit/>
          </a:bodyPr>
          <a:lstStyle/>
          <a:p>
            <a:pPr algn="ctr"/>
            <a:br>
              <a:rPr lang="en-US" sz="4400" b="1" dirty="0">
                <a:latin typeface="Arial" panose="020B0604020202020204" pitchFamily="34" charset="0"/>
                <a:cs typeface="Arial" panose="020B0604020202020204" pitchFamily="34" charset="0"/>
              </a:rPr>
            </a:br>
            <a:r>
              <a:rPr lang="en-US" sz="4400" b="1" i="1" dirty="0">
                <a:latin typeface="Arial" panose="020B0604020202020204" pitchFamily="34" charset="0"/>
                <a:cs typeface="Arial" panose="020B0604020202020204" pitchFamily="34" charset="0"/>
              </a:rPr>
              <a:t>THE PERFECT BLEND OF PROFIT: BYU BLEND(PINEAPPLE MIRAGE) ANNUAL FINANCIAL ANALYSIS.</a:t>
            </a:r>
            <a:br>
              <a:rPr lang="en-US" sz="4400" b="1" i="1" dirty="0">
                <a:latin typeface="Arial" panose="020B0604020202020204" pitchFamily="34" charset="0"/>
                <a:cs typeface="Arial" panose="020B0604020202020204" pitchFamily="34" charset="0"/>
              </a:rPr>
            </a:br>
            <a:r>
              <a:rPr lang="en-US" sz="4400" b="1" i="1" dirty="0">
                <a:latin typeface="Arial" panose="020B0604020202020204" pitchFamily="34" charset="0"/>
                <a:cs typeface="Arial" panose="020B0604020202020204" pitchFamily="34" charset="0"/>
              </a:rPr>
              <a:t>BY</a:t>
            </a:r>
            <a:br>
              <a:rPr lang="en-US" sz="4400" b="1" i="1" dirty="0">
                <a:latin typeface="Arial" panose="020B0604020202020204" pitchFamily="34" charset="0"/>
                <a:cs typeface="Arial" panose="020B0604020202020204" pitchFamily="34" charset="0"/>
              </a:rPr>
            </a:br>
            <a:r>
              <a:rPr lang="en-US" sz="3100" b="1" i="1" dirty="0">
                <a:latin typeface="Arial" panose="020B0604020202020204" pitchFamily="34" charset="0"/>
                <a:cs typeface="Arial" panose="020B0604020202020204" pitchFamily="34" charset="0"/>
              </a:rPr>
              <a:t>PEACE AIGBOKHAEBHOLO, DAVID AUGUSTINE, WINIFRED NZEKA, EMMANUEL OPARA, FRANCISCA ANDOH, AKANBI OLUWAFEMI, BILL COLEMAN, AUGUSTA ANTHONY ISONG</a:t>
            </a:r>
          </a:p>
        </p:txBody>
      </p:sp>
    </p:spTree>
    <p:extLst>
      <p:ext uri="{BB962C8B-B14F-4D97-AF65-F5344CB8AC3E}">
        <p14:creationId xmlns:p14="http://schemas.microsoft.com/office/powerpoint/2010/main" val="3274162960"/>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0524-3AE3-9592-7295-DA33FEB2C852}"/>
              </a:ext>
            </a:extLst>
          </p:cNvPr>
          <p:cNvSpPr>
            <a:spLocks noGrp="1"/>
          </p:cNvSpPr>
          <p:nvPr>
            <p:ph type="title"/>
          </p:nvPr>
        </p:nvSpPr>
        <p:spPr>
          <a:xfrm>
            <a:off x="838200" y="264789"/>
            <a:ext cx="10515600" cy="1338647"/>
          </a:xfrm>
          <a:solidFill>
            <a:schemeClr val="accent2"/>
          </a:solidFill>
        </p:spPr>
        <p:txBody>
          <a:bodyPr anchor="ctr"/>
          <a:lstStyle/>
          <a:p>
            <a:pPr algn="ctr"/>
            <a:r>
              <a:rPr lang="en-US" sz="4000" b="1" i="1" dirty="0">
                <a:latin typeface="Arial" panose="020B0604020202020204" pitchFamily="34" charset="0"/>
                <a:cs typeface="Arial" panose="020B0604020202020204" pitchFamily="34" charset="0"/>
              </a:rPr>
              <a:t>BYU BLEND (Pineapple Mirage)Objectives</a:t>
            </a:r>
            <a:r>
              <a:rPr lang="en-US" sz="4000" i="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E12D6DCA-F12E-BCC3-E15C-BA7DB9A4077D}"/>
              </a:ext>
            </a:extLst>
          </p:cNvPr>
          <p:cNvSpPr>
            <a:spLocks noGrp="1"/>
          </p:cNvSpPr>
          <p:nvPr>
            <p:ph idx="1"/>
          </p:nvPr>
        </p:nvSpPr>
        <p:spPr>
          <a:xfrm>
            <a:off x="1103312" y="2052918"/>
            <a:ext cx="10160001" cy="4195481"/>
          </a:xfrm>
        </p:spPr>
        <p:txBody>
          <a:bodyPr>
            <a:normAutofit lnSpcReduction="10000"/>
          </a:bodyPr>
          <a:lstStyle/>
          <a:p>
            <a:r>
              <a:rPr lang="en-US" sz="4800" i="1" dirty="0">
                <a:latin typeface="Arial" panose="020B0604020202020204" pitchFamily="34" charset="0"/>
                <a:cs typeface="Arial" panose="020B0604020202020204" pitchFamily="34" charset="0"/>
              </a:rPr>
              <a:t>To highlight the financial viability of BYU BLEND (Pineapple Mirage) by breaking down key cost factors, revenue strategies, and profitability metrics.</a:t>
            </a:r>
          </a:p>
        </p:txBody>
      </p:sp>
    </p:spTree>
    <p:extLst>
      <p:ext uri="{BB962C8B-B14F-4D97-AF65-F5344CB8AC3E}">
        <p14:creationId xmlns:p14="http://schemas.microsoft.com/office/powerpoint/2010/main" val="1393924224"/>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C86CF-B726-C37E-775E-9B641A28606B}"/>
              </a:ext>
            </a:extLst>
          </p:cNvPr>
          <p:cNvSpPr>
            <a:spLocks noGrp="1"/>
          </p:cNvSpPr>
          <p:nvPr>
            <p:ph type="title"/>
          </p:nvPr>
        </p:nvSpPr>
        <p:spPr>
          <a:xfrm>
            <a:off x="482203" y="0"/>
            <a:ext cx="10515600" cy="773906"/>
          </a:xfrm>
          <a:solidFill>
            <a:schemeClr val="accent2"/>
          </a:solidFill>
        </p:spPr>
        <p:txBody>
          <a:bodyPr anchor="t">
            <a:normAutofit/>
          </a:bodyPr>
          <a:lstStyle/>
          <a:p>
            <a:pPr algn="ctr"/>
            <a:r>
              <a:rPr lang="en-US" b="1" i="1" dirty="0"/>
              <a:t>Data Analysis For BYU BLEND</a:t>
            </a:r>
          </a:p>
        </p:txBody>
      </p:sp>
      <p:sp>
        <p:nvSpPr>
          <p:cNvPr id="3" name="Content Placeholder 2">
            <a:extLst>
              <a:ext uri="{FF2B5EF4-FFF2-40B4-BE49-F238E27FC236}">
                <a16:creationId xmlns:a16="http://schemas.microsoft.com/office/drawing/2014/main" id="{44C91DAE-2881-F83F-E9CE-DCC6B62E0205}"/>
              </a:ext>
            </a:extLst>
          </p:cNvPr>
          <p:cNvSpPr>
            <a:spLocks noGrp="1"/>
          </p:cNvSpPr>
          <p:nvPr>
            <p:ph idx="1"/>
          </p:nvPr>
        </p:nvSpPr>
        <p:spPr>
          <a:xfrm>
            <a:off x="375047" y="773906"/>
            <a:ext cx="11227593" cy="5729684"/>
          </a:xfrm>
        </p:spPr>
        <p:txBody>
          <a:bodyPr>
            <a:noAutofit/>
          </a:bodyPr>
          <a:lstStyle/>
          <a:p>
            <a:endParaRPr lang="en-US" b="1" dirty="0">
              <a:latin typeface="Arial" panose="020B0604020202020204" pitchFamily="34" charset="0"/>
              <a:cs typeface="Arial" panose="020B0604020202020204" pitchFamily="34" charset="0"/>
            </a:endParaRPr>
          </a:p>
          <a:p>
            <a:r>
              <a:rPr lang="en-US" b="1" i="1" dirty="0">
                <a:latin typeface="Arial" panose="020B0604020202020204" pitchFamily="34" charset="0"/>
                <a:cs typeface="Arial" panose="020B0604020202020204" pitchFamily="34" charset="0"/>
              </a:rPr>
              <a:t>Annual fixed cost: </a:t>
            </a:r>
            <a:r>
              <a:rPr lang="en-US" i="1" dirty="0">
                <a:latin typeface="Arial" panose="020B0604020202020204" pitchFamily="34" charset="0"/>
                <a:cs typeface="Arial" panose="020B0604020202020204" pitchFamily="34" charset="0"/>
              </a:rPr>
              <a:t>BYU BLEND’s annual fixed costs total $5,210.64, covering essential overheads required to operate consistently throughout the year. These fixed costs are incurred regardless of production levels and for </a:t>
            </a:r>
            <a:r>
              <a:rPr lang="en-US" i="1" dirty="0" err="1">
                <a:latin typeface="Arial" panose="020B0604020202020204" pitchFamily="34" charset="0"/>
                <a:cs typeface="Arial" panose="020B0604020202020204" pitchFamily="34" charset="0"/>
              </a:rPr>
              <a:t>Byu</a:t>
            </a:r>
            <a:r>
              <a:rPr lang="en-US" i="1" dirty="0">
                <a:latin typeface="Arial" panose="020B0604020202020204" pitchFamily="34" charset="0"/>
                <a:cs typeface="Arial" panose="020B0604020202020204" pitchFamily="34" charset="0"/>
              </a:rPr>
              <a:t> Blend our annual fixed cost include expenses for shop rent, and utilities( Power, water, trash). Which we considered critical for budgeting and pricing decisions. </a:t>
            </a:r>
            <a:r>
              <a:rPr lang="en-US" i="1" dirty="0" err="1">
                <a:latin typeface="Arial" panose="020B0604020202020204" pitchFamily="34" charset="0"/>
                <a:cs typeface="Arial" panose="020B0604020202020204" pitchFamily="34" charset="0"/>
              </a:rPr>
              <a:t>Byu</a:t>
            </a:r>
            <a:r>
              <a:rPr lang="en-US" i="1" dirty="0">
                <a:latin typeface="Arial" panose="020B0604020202020204" pitchFamily="34" charset="0"/>
                <a:cs typeface="Arial" panose="020B0604020202020204" pitchFamily="34" charset="0"/>
              </a:rPr>
              <a:t> Blend Annual fixed cost was realized by adding shop rent value with the Utilities value, then multiply both 12 which represents the number of months in a year.</a:t>
            </a:r>
          </a:p>
          <a:p>
            <a:r>
              <a:rPr lang="en-US" b="1" i="1" dirty="0">
                <a:latin typeface="Arial" panose="020B0604020202020204" pitchFamily="34" charset="0"/>
                <a:cs typeface="Arial" panose="020B0604020202020204" pitchFamily="34" charset="0"/>
              </a:rPr>
              <a:t>Variable Cost Per Cup: </a:t>
            </a:r>
            <a:r>
              <a:rPr lang="en-US" i="1" dirty="0">
                <a:latin typeface="Arial" panose="020B0604020202020204" pitchFamily="34" charset="0"/>
                <a:cs typeface="Arial" panose="020B0604020202020204" pitchFamily="34" charset="0"/>
              </a:rPr>
              <a:t>BYU BLEND’s variable cost per cup is $0.30, representing the direct cost incurred for producing each additional cup sold. This cost includes purchase of ingredients used and packaging, with each unit produced. The BYU BLEND Team considered this crucial for calculating profit margins and setting selling prices.</a:t>
            </a:r>
          </a:p>
          <a:p>
            <a:endParaRPr lang="en-US" dirty="0"/>
          </a:p>
          <a:p>
            <a:pPr marL="0" indent="0">
              <a:buNone/>
            </a:pPr>
            <a:endParaRPr lang="en-US" dirty="0"/>
          </a:p>
        </p:txBody>
      </p:sp>
    </p:spTree>
    <p:extLst>
      <p:ext uri="{BB962C8B-B14F-4D97-AF65-F5344CB8AC3E}">
        <p14:creationId xmlns:p14="http://schemas.microsoft.com/office/powerpoint/2010/main" val="2448067964"/>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BE17D-4A3E-4641-B34A-29E5693A5184}"/>
              </a:ext>
            </a:extLst>
          </p:cNvPr>
          <p:cNvSpPr>
            <a:spLocks noGrp="1"/>
          </p:cNvSpPr>
          <p:nvPr>
            <p:ph type="title"/>
          </p:nvPr>
        </p:nvSpPr>
        <p:spPr>
          <a:xfrm>
            <a:off x="1321594" y="333655"/>
            <a:ext cx="9404723" cy="1400530"/>
          </a:xfrm>
          <a:solidFill>
            <a:schemeClr val="accent2"/>
          </a:solidFill>
        </p:spPr>
        <p:txBody>
          <a:bodyPr/>
          <a:lstStyle/>
          <a:p>
            <a:pPr algn="ctr"/>
            <a:r>
              <a:rPr lang="en-US" b="1" i="1" dirty="0">
                <a:latin typeface="Arial" panose="020B0604020202020204" pitchFamily="34" charset="0"/>
                <a:cs typeface="Arial" panose="020B0604020202020204" pitchFamily="34" charset="0"/>
              </a:rPr>
              <a:t>BYU BLEND Annual fixed cost and Variable Cost Diagram</a:t>
            </a:r>
            <a:r>
              <a:rPr lang="en-US" i="1" dirty="0">
                <a:latin typeface="Arial" panose="020B0604020202020204" pitchFamily="34" charset="0"/>
                <a:cs typeface="Arial" panose="020B0604020202020204" pitchFamily="34" charset="0"/>
              </a:rPr>
              <a:t> </a:t>
            </a:r>
          </a:p>
        </p:txBody>
      </p:sp>
      <p:pic>
        <p:nvPicPr>
          <p:cNvPr id="5" name="Content Placeholder 4">
            <a:extLst>
              <a:ext uri="{FF2B5EF4-FFF2-40B4-BE49-F238E27FC236}">
                <a16:creationId xmlns:a16="http://schemas.microsoft.com/office/drawing/2014/main" id="{9459D488-20E6-49F0-ABB3-F985501C4C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9814" y="2052638"/>
            <a:ext cx="9108281" cy="4195762"/>
          </a:xfrm>
        </p:spPr>
      </p:pic>
    </p:spTree>
    <p:extLst>
      <p:ext uri="{BB962C8B-B14F-4D97-AF65-F5344CB8AC3E}">
        <p14:creationId xmlns:p14="http://schemas.microsoft.com/office/powerpoint/2010/main" val="2598352944"/>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39C33-E1B1-AB3F-DF80-6E6D3BFE1764}"/>
              </a:ext>
            </a:extLst>
          </p:cNvPr>
          <p:cNvSpPr>
            <a:spLocks noGrp="1"/>
          </p:cNvSpPr>
          <p:nvPr>
            <p:ph type="title"/>
          </p:nvPr>
        </p:nvSpPr>
        <p:spPr>
          <a:xfrm>
            <a:off x="838200" y="365126"/>
            <a:ext cx="10515600" cy="1004094"/>
          </a:xfrm>
          <a:solidFill>
            <a:schemeClr val="accent2"/>
          </a:solidFill>
        </p:spPr>
        <p:txBody>
          <a:bodyPr/>
          <a:lstStyle/>
          <a:p>
            <a:pPr algn="ctr"/>
            <a:r>
              <a:rPr lang="en-US" b="1" i="1" dirty="0"/>
              <a:t>Data Analysis For BYU BLEND Cont’d</a:t>
            </a:r>
            <a:endParaRPr lang="en-US" i="1" dirty="0"/>
          </a:p>
        </p:txBody>
      </p:sp>
      <p:sp>
        <p:nvSpPr>
          <p:cNvPr id="3" name="Content Placeholder 2">
            <a:extLst>
              <a:ext uri="{FF2B5EF4-FFF2-40B4-BE49-F238E27FC236}">
                <a16:creationId xmlns:a16="http://schemas.microsoft.com/office/drawing/2014/main" id="{2F684797-166F-22D9-5E5D-72409C5DFF95}"/>
              </a:ext>
            </a:extLst>
          </p:cNvPr>
          <p:cNvSpPr>
            <a:spLocks noGrp="1"/>
          </p:cNvSpPr>
          <p:nvPr>
            <p:ph idx="1"/>
          </p:nvPr>
        </p:nvSpPr>
        <p:spPr/>
        <p:txBody>
          <a:bodyPr>
            <a:normAutofit/>
          </a:bodyPr>
          <a:lstStyle/>
          <a:p>
            <a:r>
              <a:rPr lang="en-US" sz="3200" b="1" i="1" dirty="0">
                <a:latin typeface="Arial" panose="020B0604020202020204" pitchFamily="34" charset="0"/>
                <a:cs typeface="Arial" panose="020B0604020202020204" pitchFamily="34" charset="0"/>
              </a:rPr>
              <a:t>Price and Percent of Demand</a:t>
            </a:r>
            <a:r>
              <a:rPr lang="en-US" sz="3200" i="1"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BYU BLEND’s set price per cup is $0.10. From the graph analysis, BYU BLEND customer demand rate increased to 15% at $1.20, resulting to less demand for the product. And as the price adjust so the demand increased from the 15% to 50% at $0.90, 60% at $0.80, 85% demand increase at 0.60 and 95% demand rate increase at $0.50. The price point at intervals, indicates the affordability and profitability projection. Which reflected an anticipated customer interest and helped in estimating the revenue and inventory needs accurately. The next slide shows the graphical illustration of BYU BLEND price and percent of demand.</a:t>
            </a:r>
          </a:p>
        </p:txBody>
      </p:sp>
    </p:spTree>
    <p:extLst>
      <p:ext uri="{BB962C8B-B14F-4D97-AF65-F5344CB8AC3E}">
        <p14:creationId xmlns:p14="http://schemas.microsoft.com/office/powerpoint/2010/main" val="1233849738"/>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FE3A6-3598-AE65-6AF5-6801DA10865F}"/>
              </a:ext>
            </a:extLst>
          </p:cNvPr>
          <p:cNvSpPr>
            <a:spLocks noGrp="1"/>
          </p:cNvSpPr>
          <p:nvPr>
            <p:ph type="title"/>
          </p:nvPr>
        </p:nvSpPr>
        <p:spPr>
          <a:xfrm>
            <a:off x="1229517" y="381281"/>
            <a:ext cx="9404723" cy="1400530"/>
          </a:xfrm>
          <a:solidFill>
            <a:schemeClr val="accent2"/>
          </a:solidFill>
        </p:spPr>
        <p:txBody>
          <a:bodyPr/>
          <a:lstStyle/>
          <a:p>
            <a:pPr algn="ctr"/>
            <a:r>
              <a:rPr lang="en-US" b="1" i="1" dirty="0">
                <a:latin typeface="Arial" panose="020B0604020202020204" pitchFamily="34" charset="0"/>
                <a:cs typeface="Arial" panose="020B0604020202020204" pitchFamily="34" charset="0"/>
              </a:rPr>
              <a:t>BYU BLEND Price and Percent Of Demand Graph</a:t>
            </a:r>
          </a:p>
        </p:txBody>
      </p:sp>
      <p:pic>
        <p:nvPicPr>
          <p:cNvPr id="4" name="Content Placeholder 3">
            <a:extLst>
              <a:ext uri="{FF2B5EF4-FFF2-40B4-BE49-F238E27FC236}">
                <a16:creationId xmlns:a16="http://schemas.microsoft.com/office/drawing/2014/main" id="{874DBE06-B162-A353-3476-71B2FF1E57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66938" y="2052638"/>
            <a:ext cx="7422035" cy="4195762"/>
          </a:xfrm>
        </p:spPr>
      </p:pic>
    </p:spTree>
    <p:extLst>
      <p:ext uri="{BB962C8B-B14F-4D97-AF65-F5344CB8AC3E}">
        <p14:creationId xmlns:p14="http://schemas.microsoft.com/office/powerpoint/2010/main" val="3693300741"/>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2955314-BC96-C36F-7847-38B9614DADE7}"/>
              </a:ext>
            </a:extLst>
          </p:cNvPr>
          <p:cNvSpPr txBox="1">
            <a:spLocks noGrp="1"/>
          </p:cNvSpPr>
          <p:nvPr>
            <p:ph type="title"/>
          </p:nvPr>
        </p:nvSpPr>
        <p:spPr>
          <a:xfrm>
            <a:off x="838200" y="365125"/>
            <a:ext cx="10515600" cy="1063625"/>
          </a:xfrm>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i="1" dirty="0">
                <a:latin typeface="Arial" panose="020B0604020202020204" pitchFamily="34" charset="0"/>
                <a:cs typeface="Arial" panose="020B0604020202020204" pitchFamily="34" charset="0"/>
              </a:rPr>
              <a:t>Data Analysis For BYU BLEND Cont’d</a:t>
            </a:r>
            <a:r>
              <a:rPr lang="en-US"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F9B19ADE-2BF7-E258-4BA3-0AAACAE15667}"/>
              </a:ext>
            </a:extLst>
          </p:cNvPr>
          <p:cNvSpPr>
            <a:spLocks noGrp="1"/>
          </p:cNvSpPr>
          <p:nvPr>
            <p:ph idx="1"/>
          </p:nvPr>
        </p:nvSpPr>
        <p:spPr/>
        <p:txBody>
          <a:bodyPr>
            <a:noAutofit/>
          </a:bodyPr>
          <a:lstStyle/>
          <a:p>
            <a:r>
              <a:rPr lang="en-US" b="1" i="1" dirty="0">
                <a:latin typeface="Arial" panose="020B0604020202020204" pitchFamily="34" charset="0"/>
                <a:cs typeface="Arial" panose="020B0604020202020204" pitchFamily="34" charset="0"/>
              </a:rPr>
              <a:t>Break-Even Point :</a:t>
            </a:r>
            <a:r>
              <a:rPr lang="en-US" i="1" dirty="0">
                <a:latin typeface="Arial" panose="020B0604020202020204" pitchFamily="34" charset="0"/>
                <a:cs typeface="Arial" panose="020B0604020202020204" pitchFamily="34" charset="0"/>
              </a:rPr>
              <a:t>BYU BLEND’s break-even point is $10,421, which was calculated by dividing total fixed costs by the profit per cup (price minus variable cost), helping assess risk and set realistic sales goals. Meaning the business starts making a profit after selling a certain amount of cups of </a:t>
            </a:r>
            <a:r>
              <a:rPr lang="en-US" i="1" dirty="0" err="1">
                <a:latin typeface="Arial" panose="020B0604020202020204" pitchFamily="34" charset="0"/>
                <a:cs typeface="Arial" panose="020B0604020202020204" pitchFamily="34" charset="0"/>
              </a:rPr>
              <a:t>Byu</a:t>
            </a:r>
            <a:r>
              <a:rPr lang="en-US" i="1" dirty="0">
                <a:latin typeface="Arial" panose="020B0604020202020204" pitchFamily="34" charset="0"/>
                <a:cs typeface="Arial" panose="020B0604020202020204" pitchFamily="34" charset="0"/>
              </a:rPr>
              <a:t> blend.</a:t>
            </a:r>
          </a:p>
          <a:p>
            <a:endParaRPr lang="en-US" i="1" dirty="0">
              <a:latin typeface="Arial" panose="020B0604020202020204" pitchFamily="34" charset="0"/>
              <a:cs typeface="Arial" panose="020B0604020202020204" pitchFamily="34" charset="0"/>
            </a:endParaRPr>
          </a:p>
          <a:p>
            <a:r>
              <a:rPr lang="en-US" b="1" i="1" dirty="0">
                <a:latin typeface="Arial" panose="020B0604020202020204" pitchFamily="34" charset="0"/>
                <a:cs typeface="Arial" panose="020B0604020202020204" pitchFamily="34" charset="0"/>
              </a:rPr>
              <a:t>Annual Net Profit: </a:t>
            </a:r>
            <a:r>
              <a:rPr lang="en-US" i="1" dirty="0">
                <a:latin typeface="Arial" panose="020B0604020202020204" pitchFamily="34" charset="0"/>
                <a:cs typeface="Arial" panose="020B0604020202020204" pitchFamily="34" charset="0"/>
              </a:rPr>
              <a:t>BYU BLEND’s annual net profit is ₦2,820, reflecting total earnings after covering all fixed and variable costs. The figure above demonstrates the business’s overall financial health and efficiency, showing the surplus remaining after all expenses are deducted from total revenue.</a:t>
            </a:r>
          </a:p>
        </p:txBody>
      </p:sp>
    </p:spTree>
    <p:extLst>
      <p:ext uri="{BB962C8B-B14F-4D97-AF65-F5344CB8AC3E}">
        <p14:creationId xmlns:p14="http://schemas.microsoft.com/office/powerpoint/2010/main" val="3897533049"/>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30BA8-4E11-D49B-0FA6-18F05E56C34B}"/>
              </a:ext>
            </a:extLst>
          </p:cNvPr>
          <p:cNvSpPr>
            <a:spLocks noGrp="1"/>
          </p:cNvSpPr>
          <p:nvPr>
            <p:ph type="title"/>
          </p:nvPr>
        </p:nvSpPr>
        <p:spPr>
          <a:xfrm>
            <a:off x="1039017" y="405093"/>
            <a:ext cx="9654744" cy="1486918"/>
          </a:xfrm>
          <a:solidFill>
            <a:schemeClr val="accent2"/>
          </a:solidFill>
        </p:spPr>
        <p:txBody>
          <a:bodyPr/>
          <a:lstStyle/>
          <a:p>
            <a:pPr algn="ctr"/>
            <a:r>
              <a:rPr lang="en-US" b="1" i="1" dirty="0">
                <a:latin typeface="Arial" panose="020B0604020202020204" pitchFamily="34" charset="0"/>
                <a:cs typeface="Arial" panose="020B0604020202020204" pitchFamily="34" charset="0"/>
              </a:rPr>
              <a:t>BYU BLEND (Pineapple Mirage) Annual Net Profit</a:t>
            </a:r>
            <a:r>
              <a:rPr lang="en-US" b="1" dirty="0">
                <a:latin typeface="Arial" panose="020B0604020202020204" pitchFamily="34" charset="0"/>
                <a:cs typeface="Arial" panose="020B0604020202020204" pitchFamily="34" charset="0"/>
              </a:rPr>
              <a:t> </a:t>
            </a:r>
            <a:r>
              <a:rPr lang="en-US" b="1" i="1" dirty="0">
                <a:latin typeface="Arial" panose="020B0604020202020204" pitchFamily="34" charset="0"/>
                <a:cs typeface="Arial" panose="020B0604020202020204" pitchFamily="34" charset="0"/>
              </a:rPr>
              <a:t>Diagram</a:t>
            </a:r>
            <a:r>
              <a:rPr lang="en-US" b="1" dirty="0">
                <a:latin typeface="Arial" panose="020B0604020202020204" pitchFamily="34" charset="0"/>
                <a:cs typeface="Arial" panose="020B0604020202020204" pitchFamily="34" charset="0"/>
              </a:rPr>
              <a:t> </a:t>
            </a:r>
          </a:p>
        </p:txBody>
      </p:sp>
      <p:pic>
        <p:nvPicPr>
          <p:cNvPr id="4" name="Content Placeholder 3">
            <a:extLst>
              <a:ext uri="{FF2B5EF4-FFF2-40B4-BE49-F238E27FC236}">
                <a16:creationId xmlns:a16="http://schemas.microsoft.com/office/drawing/2014/main" id="{8416E2A9-4A0D-2793-292C-66D25F3029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4721" y="2088356"/>
            <a:ext cx="6543335" cy="4195762"/>
          </a:xfrm>
        </p:spPr>
      </p:pic>
    </p:spTree>
    <p:extLst>
      <p:ext uri="{BB962C8B-B14F-4D97-AF65-F5344CB8AC3E}">
        <p14:creationId xmlns:p14="http://schemas.microsoft.com/office/powerpoint/2010/main" val="4243587266"/>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AE564AC-D65A-8A37-23B9-158EB8F017AF}"/>
              </a:ext>
            </a:extLst>
          </p:cNvPr>
          <p:cNvSpPr txBox="1">
            <a:spLocks noGrp="1"/>
          </p:cNvSpPr>
          <p:nvPr>
            <p:ph type="title"/>
          </p:nvPr>
        </p:nvSpPr>
        <p:spPr>
          <a:xfrm>
            <a:off x="1205705" y="333656"/>
            <a:ext cx="9404723" cy="1400530"/>
          </a:xfrm>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i="1" dirty="0">
                <a:latin typeface="Arial" panose="020B0604020202020204" pitchFamily="34" charset="0"/>
                <a:cs typeface="Arial" panose="020B0604020202020204" pitchFamily="34" charset="0"/>
              </a:rPr>
              <a:t>Data Analysis For BYU BLEND Cont’d</a:t>
            </a:r>
            <a:r>
              <a:rPr lang="en-US" i="1" dirty="0">
                <a:latin typeface="Arial" panose="020B0604020202020204" pitchFamily="34" charset="0"/>
                <a:cs typeface="Arial" panose="020B0604020202020204" pitchFamily="34" charset="0"/>
              </a:rPr>
              <a:t> </a:t>
            </a:r>
          </a:p>
        </p:txBody>
      </p:sp>
      <p:sp>
        <p:nvSpPr>
          <p:cNvPr id="3" name="Content Placeholder 2">
            <a:extLst>
              <a:ext uri="{FF2B5EF4-FFF2-40B4-BE49-F238E27FC236}">
                <a16:creationId xmlns:a16="http://schemas.microsoft.com/office/drawing/2014/main" id="{8955202D-8811-245D-DC2D-23923E6B34A6}"/>
              </a:ext>
            </a:extLst>
          </p:cNvPr>
          <p:cNvSpPr>
            <a:spLocks noGrp="1"/>
          </p:cNvSpPr>
          <p:nvPr>
            <p:ph idx="1"/>
          </p:nvPr>
        </p:nvSpPr>
        <p:spPr>
          <a:xfrm>
            <a:off x="838200" y="2024063"/>
            <a:ext cx="10515600" cy="3417093"/>
          </a:xfrm>
        </p:spPr>
        <p:txBody>
          <a:bodyPr>
            <a:normAutofit fontScale="92500" lnSpcReduction="20000"/>
          </a:bodyPr>
          <a:lstStyle/>
          <a:p>
            <a:endParaRPr lang="en-US" sz="3200" b="1" i="1" dirty="0">
              <a:latin typeface="Arial" panose="020B0604020202020204" pitchFamily="34" charset="0"/>
              <a:cs typeface="Arial" panose="020B0604020202020204" pitchFamily="34" charset="0"/>
            </a:endParaRPr>
          </a:p>
          <a:p>
            <a:r>
              <a:rPr lang="en-US" sz="3200" b="1" i="1" dirty="0">
                <a:latin typeface="Arial" panose="020B0604020202020204" pitchFamily="34" charset="0"/>
                <a:cs typeface="Arial" panose="020B0604020202020204" pitchFamily="34" charset="0"/>
              </a:rPr>
              <a:t>Break-Even Analysis Graph:</a:t>
            </a:r>
            <a:r>
              <a:rPr lang="en-US" b="1" i="1" dirty="0">
                <a:latin typeface="Arial" panose="020B0604020202020204" pitchFamily="34" charset="0"/>
                <a:cs typeface="Arial" panose="020B0604020202020204" pitchFamily="34" charset="0"/>
              </a:rPr>
              <a:t> </a:t>
            </a:r>
            <a:r>
              <a:rPr lang="en-US" sz="2800" i="1" dirty="0">
                <a:latin typeface="Arial" panose="020B0604020202020204" pitchFamily="34" charset="0"/>
                <a:cs typeface="Arial" panose="020B0604020202020204" pitchFamily="34" charset="0"/>
              </a:rPr>
              <a:t>The break-even analysis graph shows the point where total revenue equals total costs, marking the start of profitability. The graph illustrates how changes in sales volume impacts the profit, with the intersection of the cost and revenue lines indicating the break-even point. Which is an essential tool to any decision-making and financial planning. The next two slides explain this in details with a graph of BYU BLEND (Pineapple Mirage).</a:t>
            </a:r>
          </a:p>
          <a:p>
            <a:endParaRPr lang="en-US" dirty="0"/>
          </a:p>
        </p:txBody>
      </p:sp>
    </p:spTree>
    <p:extLst>
      <p:ext uri="{BB962C8B-B14F-4D97-AF65-F5344CB8AC3E}">
        <p14:creationId xmlns:p14="http://schemas.microsoft.com/office/powerpoint/2010/main" val="2572126794"/>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54AEE-8A8A-BC32-734F-024B1EEE2705}"/>
              </a:ext>
            </a:extLst>
          </p:cNvPr>
          <p:cNvSpPr>
            <a:spLocks noGrp="1"/>
          </p:cNvSpPr>
          <p:nvPr>
            <p:ph type="title"/>
          </p:nvPr>
        </p:nvSpPr>
        <p:spPr>
          <a:xfrm>
            <a:off x="1393638" y="428905"/>
            <a:ext cx="9404723" cy="1400530"/>
          </a:xfrm>
          <a:solidFill>
            <a:schemeClr val="accent2"/>
          </a:solidFill>
        </p:spPr>
        <p:txBody>
          <a:bodyPr/>
          <a:lstStyle/>
          <a:p>
            <a:pPr algn="ctr"/>
            <a:r>
              <a:rPr lang="en-US" b="1" i="1" dirty="0">
                <a:latin typeface="Arial" panose="020B0604020202020204" pitchFamily="34" charset="0"/>
                <a:cs typeface="Arial" panose="020B0604020202020204" pitchFamily="34" charset="0"/>
              </a:rPr>
              <a:t>BYU BLEND Break-Even Analysis Graph </a:t>
            </a:r>
          </a:p>
        </p:txBody>
      </p:sp>
      <p:pic>
        <p:nvPicPr>
          <p:cNvPr id="4" name="Content Placeholder 3">
            <a:extLst>
              <a:ext uri="{FF2B5EF4-FFF2-40B4-BE49-F238E27FC236}">
                <a16:creationId xmlns:a16="http://schemas.microsoft.com/office/drawing/2014/main" id="{478DC379-0033-F24F-F5FA-6C05740973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2094" y="2052638"/>
            <a:ext cx="8763000" cy="4195762"/>
          </a:xfrm>
        </p:spPr>
      </p:pic>
    </p:spTree>
    <p:extLst>
      <p:ext uri="{BB962C8B-B14F-4D97-AF65-F5344CB8AC3E}">
        <p14:creationId xmlns:p14="http://schemas.microsoft.com/office/powerpoint/2010/main" val="420664486"/>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DC5743B-71B8-BD01-D468-BA1267194AE6}"/>
              </a:ext>
            </a:extLst>
          </p:cNvPr>
          <p:cNvSpPr txBox="1">
            <a:spLocks noGrp="1"/>
          </p:cNvSpPr>
          <p:nvPr>
            <p:ph type="title"/>
          </p:nvPr>
        </p:nvSpPr>
        <p:spPr>
          <a:xfrm>
            <a:off x="1241424" y="365126"/>
            <a:ext cx="9404723" cy="1273689"/>
          </a:xfrm>
          <a:prstGeom prst="rect">
            <a:avLst/>
          </a:prstGeom>
          <a:solidFill>
            <a:schemeClr val="accent2"/>
          </a:solidFill>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i="1" dirty="0">
                <a:latin typeface="Arial" panose="020B0604020202020204" pitchFamily="34" charset="0"/>
                <a:cs typeface="Arial" panose="020B0604020202020204" pitchFamily="34" charset="0"/>
              </a:rPr>
              <a:t>BYU BLEND Break-Even Analysis Graph Explained</a:t>
            </a:r>
          </a:p>
        </p:txBody>
      </p:sp>
      <p:sp>
        <p:nvSpPr>
          <p:cNvPr id="3" name="Content Placeholder 2">
            <a:extLst>
              <a:ext uri="{FF2B5EF4-FFF2-40B4-BE49-F238E27FC236}">
                <a16:creationId xmlns:a16="http://schemas.microsoft.com/office/drawing/2014/main" id="{486F0DD6-09FA-6803-1E2C-D959CAC19115}"/>
              </a:ext>
            </a:extLst>
          </p:cNvPr>
          <p:cNvSpPr>
            <a:spLocks noGrp="1"/>
          </p:cNvSpPr>
          <p:nvPr>
            <p:ph idx="1"/>
          </p:nvPr>
        </p:nvSpPr>
        <p:spPr>
          <a:xfrm>
            <a:off x="685985" y="1638815"/>
            <a:ext cx="10515600" cy="4253409"/>
          </a:xfrm>
        </p:spPr>
        <p:txBody>
          <a:bodyPr>
            <a:noAutofit/>
          </a:bodyPr>
          <a:lstStyle/>
          <a:p>
            <a:endParaRPr lang="en-US" sz="2400" dirty="0">
              <a:latin typeface="Arial" panose="020B0604020202020204" pitchFamily="34" charset="0"/>
              <a:cs typeface="Arial" panose="020B0604020202020204" pitchFamily="34" charset="0"/>
            </a:endParaRPr>
          </a:p>
          <a:p>
            <a:r>
              <a:rPr lang="en-US" sz="2400" i="1" dirty="0">
                <a:latin typeface="Arial" panose="020B0604020202020204" pitchFamily="34" charset="0"/>
                <a:cs typeface="Arial" panose="020B0604020202020204" pitchFamily="34" charset="0"/>
              </a:rPr>
              <a:t>A break-even point graph as earlier explained, shows where total revenue equals total costs. The point where the business neither makes a profit nor a loss. The BYU BLEND (Pineapple Mirage) graph on the previous slide displayed this, where the blue line represented the annual cost against the orange line representing the annual revenue. From the graph we realized the Break-Even Point at $10,421 with the intersection of both lines. The graph identified how many units sold to cover all expenses, and the profit realized above the break even point. Making it a key tool for planning, pricing, and profitability analysis for the team.</a:t>
            </a:r>
          </a:p>
        </p:txBody>
      </p:sp>
    </p:spTree>
    <p:extLst>
      <p:ext uri="{BB962C8B-B14F-4D97-AF65-F5344CB8AC3E}">
        <p14:creationId xmlns:p14="http://schemas.microsoft.com/office/powerpoint/2010/main" val="1357099260"/>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4EEDA-3F8B-A454-D3B1-A9A5BB487E69}"/>
              </a:ext>
            </a:extLst>
          </p:cNvPr>
          <p:cNvSpPr>
            <a:spLocks noGrp="1"/>
          </p:cNvSpPr>
          <p:nvPr>
            <p:ph type="title"/>
          </p:nvPr>
        </p:nvSpPr>
        <p:spPr>
          <a:xfrm>
            <a:off x="1004888" y="500063"/>
            <a:ext cx="10008394" cy="952500"/>
          </a:xfrm>
          <a:solidFill>
            <a:schemeClr val="accent2"/>
          </a:solidFill>
        </p:spPr>
        <p:txBody>
          <a:bodyPr anchor="ctr">
            <a:normAutofit fontScale="90000"/>
          </a:bodyPr>
          <a:lstStyle/>
          <a:p>
            <a:pPr algn="ctr"/>
            <a:br>
              <a:rPr lang="en-US" b="1" dirty="0"/>
            </a:br>
            <a:r>
              <a:rPr lang="en-US" b="1" i="1" dirty="0">
                <a:latin typeface="Arial" panose="020B0604020202020204" pitchFamily="34" charset="0"/>
                <a:cs typeface="Arial" panose="020B0604020202020204" pitchFamily="34" charset="0"/>
              </a:rPr>
              <a:t>Persuasive Statement for Presentation</a:t>
            </a:r>
            <a:br>
              <a:rPr lang="en-US" i="1" dirty="0"/>
            </a:br>
            <a:endParaRPr lang="en-US" i="1" dirty="0"/>
          </a:p>
        </p:txBody>
      </p:sp>
      <p:sp>
        <p:nvSpPr>
          <p:cNvPr id="3" name="Content Placeholder 2">
            <a:extLst>
              <a:ext uri="{FF2B5EF4-FFF2-40B4-BE49-F238E27FC236}">
                <a16:creationId xmlns:a16="http://schemas.microsoft.com/office/drawing/2014/main" id="{D9624447-B9E5-D83C-7736-D74635A8172E}"/>
              </a:ext>
            </a:extLst>
          </p:cNvPr>
          <p:cNvSpPr>
            <a:spLocks noGrp="1"/>
          </p:cNvSpPr>
          <p:nvPr>
            <p:ph idx="1"/>
          </p:nvPr>
        </p:nvSpPr>
        <p:spPr>
          <a:xfrm>
            <a:off x="838200" y="1664891"/>
            <a:ext cx="10515600" cy="4351338"/>
          </a:xfrm>
        </p:spPr>
        <p:txBody>
          <a:bodyPr/>
          <a:lstStyle/>
          <a:p>
            <a:endParaRPr lang="en-US"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By effectively managing BYU BLEND’s annual fixed costs of ₦5,210.64 and maintaining a variable cost of $0.30 per cup, we’ve strategically priced each cup at $0.60 to meet an anticipated 85% demand, and  at $0.50 to foster more anticipated demand of 95%. Our break-even point at just $10,421 means we were able quickly cover costs and begin earning profits. With an annual net profit of ₦2,820, therefore BYU BLEND is positioned for sustainable growth. The break-even analysis graph clearly illustrated how sales volume impacts profitability, empowering us to make confident, data-driven decisions to maximize success.</a:t>
            </a:r>
          </a:p>
        </p:txBody>
      </p:sp>
    </p:spTree>
    <p:extLst>
      <p:ext uri="{BB962C8B-B14F-4D97-AF65-F5344CB8AC3E}">
        <p14:creationId xmlns:p14="http://schemas.microsoft.com/office/powerpoint/2010/main" val="3342092557"/>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B420-9272-4472-C746-F11E9A59A47F}"/>
              </a:ext>
            </a:extLst>
          </p:cNvPr>
          <p:cNvSpPr>
            <a:spLocks noGrp="1"/>
          </p:cNvSpPr>
          <p:nvPr>
            <p:ph type="title"/>
          </p:nvPr>
        </p:nvSpPr>
        <p:spPr>
          <a:xfrm>
            <a:off x="838200" y="257968"/>
            <a:ext cx="10515600" cy="1063625"/>
          </a:xfrm>
          <a:solidFill>
            <a:schemeClr val="accent2"/>
          </a:solidFill>
        </p:spPr>
        <p:txBody>
          <a:bodyPr/>
          <a:lstStyle/>
          <a:p>
            <a:pPr algn="ctr"/>
            <a:r>
              <a:rPr lang="en-US" b="1" i="1" dirty="0">
                <a:latin typeface="Arial" panose="020B0604020202020204" pitchFamily="34" charset="0"/>
                <a:cs typeface="Arial" panose="020B0604020202020204" pitchFamily="34" charset="0"/>
              </a:rPr>
              <a:t>Conclusion</a:t>
            </a:r>
            <a:r>
              <a:rPr lang="en-US" dirty="0"/>
              <a:t> </a:t>
            </a:r>
          </a:p>
        </p:txBody>
      </p:sp>
      <p:sp>
        <p:nvSpPr>
          <p:cNvPr id="3" name="Content Placeholder 2">
            <a:extLst>
              <a:ext uri="{FF2B5EF4-FFF2-40B4-BE49-F238E27FC236}">
                <a16:creationId xmlns:a16="http://schemas.microsoft.com/office/drawing/2014/main" id="{1F4B9A19-E23A-5AD9-90D9-5AD9CAEB5542}"/>
              </a:ext>
            </a:extLst>
          </p:cNvPr>
          <p:cNvSpPr>
            <a:spLocks noGrp="1"/>
          </p:cNvSpPr>
          <p:nvPr>
            <p:ph idx="1"/>
          </p:nvPr>
        </p:nvSpPr>
        <p:spPr>
          <a:xfrm>
            <a:off x="1317625" y="1576668"/>
            <a:ext cx="9671844" cy="5126551"/>
          </a:xfrm>
        </p:spPr>
        <p:txBody>
          <a:bodyPr>
            <a:normAutofit/>
          </a:bodyPr>
          <a:lstStyle/>
          <a:p>
            <a:r>
              <a:rPr lang="en-US" sz="3600" i="1" dirty="0">
                <a:latin typeface="Arial" panose="020B0604020202020204" pitchFamily="34" charset="0"/>
                <a:cs typeface="Arial" panose="020B0604020202020204" pitchFamily="34" charset="0"/>
              </a:rPr>
              <a:t>In summary, BYU BLEND (Pineapple Mirage)has a strong financial foundation with controlled costs, strategic pricing, and clear demand. Our break-even point is achievable, and the projected net profit confirms the business’s potential for sustainable growth. By leveraging these insights, we are well-positioned to make informed decisions and achieve long-term success.</a:t>
            </a:r>
          </a:p>
        </p:txBody>
      </p:sp>
    </p:spTree>
    <p:extLst>
      <p:ext uri="{BB962C8B-B14F-4D97-AF65-F5344CB8AC3E}">
        <p14:creationId xmlns:p14="http://schemas.microsoft.com/office/powerpoint/2010/main" val="467267466"/>
      </p:ext>
    </p:extLst>
  </p:cSld>
  <p:clrMapOvr>
    <a:masterClrMapping/>
  </p:clrMapOvr>
  <mc:AlternateContent xmlns:mc="http://schemas.openxmlformats.org/markup-compatibility/2006">
    <mc:Choice xmlns:p14="http://schemas.microsoft.com/office/powerpoint/2010/main" Requires="p14">
      <p:transition spd="slow" p14:dur="1500">
        <p:split/>
      </p:transition>
    </mc:Choice>
    <mc:Fallback>
      <p:transition spd="slow">
        <p:spli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Ion</vt:lpstr>
      <vt:lpstr> THE PERFECT BLEND OF PROFIT: BYU BLEND(PINEAPPLE MIRAGE) ANNUAL FINANCIAL ANALYSIS. BY PEACE AIGBOKHAEBHOLO, DAVID AUGUSTINE, WINIFRED NZEKA, EMMANUEL OPARA, FRANCISCA ANDOH, AKANBI OLUWAFEMI, BILL COLEMAN, AUGUSTA ANTHONY ISONG</vt:lpstr>
      <vt:lpstr>BYU BLEND (Pineapple Mirage)Objectives </vt:lpstr>
      <vt:lpstr>Data Analysis For BYU BLEND</vt:lpstr>
      <vt:lpstr>BYU BLEND Annual fixed cost and Variable Cost Diagram </vt:lpstr>
      <vt:lpstr>Data Analysis For BYU BLEND Cont’d</vt:lpstr>
      <vt:lpstr>BYU BLEND Price and Percent Of Demand Graph</vt:lpstr>
      <vt:lpstr>Data Analysis For BYU BLEND Cont’d </vt:lpstr>
      <vt:lpstr>BYU BLEND (Pineapple Mirage) Annual Net Profit Diagram </vt:lpstr>
      <vt:lpstr>Data Analysis For BYU BLEND Cont’d </vt:lpstr>
      <vt:lpstr>BYU BLEND Break-Even Analysis Graph </vt:lpstr>
      <vt:lpstr>BYU BLEND Break-Even Analysis Graph Explained</vt:lpstr>
      <vt:lpstr> Persuasive Statement for Presentation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THE PERFECT BLEND OF PROFIT: BYU BLEND’s ANNUAL FINANCIAL ANALYSIS.</dc:title>
  <dc:creator>OPARA EMMANUEL VINCENT</dc:creator>
  <cp:lastModifiedBy>OPARA EMMANUEL VINCENT</cp:lastModifiedBy>
  <cp:revision>9</cp:revision>
  <dcterms:created xsi:type="dcterms:W3CDTF">2025-06-09T10:38:01Z</dcterms:created>
  <dcterms:modified xsi:type="dcterms:W3CDTF">2025-06-14T09:27:09Z</dcterms:modified>
</cp:coreProperties>
</file>